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</p:sldIdLst>
  <p:sldSz cx="14630400" cy="82296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7993F5-E672-4E79-9CAE-4C6A4D0F5A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2B058D-7D91-470D-9DB6-E07261FC9D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6AEA018-1816-452A-9D9D-A8086AF868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53A7314-01A1-4217-918D-DF2017E5B5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B7172AC-3CE0-4EA1-896B-FA657D13BD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A4389D3-B068-4564-920D-35B9C64E8B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2FBD885-90C5-4343-AFCB-CF5D59F060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998B37D-6C4E-4211-A8BE-DA5FB4B126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4C71B16-DFF1-4F24-B95A-8D09EA5CC0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6E70B45-B2CA-417F-8F1C-DCAA6489E6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C658B32-5733-44D4-A44F-E8D35937F8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BE2294-6A1B-406C-947A-73F0E799AD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E86E84-D8A3-4D34-9144-BA5D5C526B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4983D4-EC41-4898-882D-028377FEFC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474F35-95C1-4D72-A4F4-CC52A5D72A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F4023B-0CA0-48EC-97ED-B9EB982142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4EBEEF-0EEF-4A08-ADE1-F696C1E4ED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43C235-743E-4502-B27C-0122F3130E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15E06A-271F-48B2-B379-3EA4A47CC2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C78627-DB24-4B50-9333-2DE076B736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4DFFBD-0FD4-42F7-B90E-F6D6768B8B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0B57FC-E152-4C63-B779-6D1C7AFA3B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14400" y="2286000"/>
            <a:ext cx="1280124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100" spc="-1" strike="noStrike">
                <a:solidFill>
                  <a:srgbClr val="ffffff"/>
                </a:solidFill>
                <a:latin typeface="Calibri"/>
              </a:rPr>
              <a:t>SILREC - Processing Status &amp; Role Workflow</a:t>
            </a:r>
            <a:endParaRPr b="0" lang="en-US" sz="4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914400" y="4114800"/>
            <a:ext cx="128012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bdc3c7"/>
                </a:solidFill>
                <a:latin typeface="Calibri"/>
              </a:rPr>
              <a:t>Proposal Lifecycle: Status transitions and the roles that perform them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5486400"/>
            <a:ext cx="12801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7f8c8d"/>
                </a:solidFill>
                <a:latin typeface="Calibri"/>
              </a:rPr>
              <a:t>silrec.dbca.wa.gov.au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457200" y="182880"/>
            <a:ext cx="1371564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SILREC Processing Status Workflow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ounded Rectangle 2"/>
          <p:cNvSpPr/>
          <p:nvPr/>
        </p:nvSpPr>
        <p:spPr>
          <a:xfrm>
            <a:off x="8686800" y="2743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bdc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7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8961120" y="22860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User (view)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ounded Rectangle 4"/>
          <p:cNvSpPr/>
          <p:nvPr/>
        </p:nvSpPr>
        <p:spPr>
          <a:xfrm>
            <a:off x="10149840" y="2743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7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10424160" y="22860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Operator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6"/>
          <p:cNvSpPr/>
          <p:nvPr/>
        </p:nvSpPr>
        <p:spPr>
          <a:xfrm>
            <a:off x="11612880" y="2743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7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11887200" y="22860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Reviewer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ounded Rectangle 8"/>
          <p:cNvSpPr/>
          <p:nvPr/>
        </p:nvSpPr>
        <p:spPr>
          <a:xfrm>
            <a:off x="13075920" y="274320"/>
            <a:ext cx="228240" cy="22824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7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13350240" y="228600"/>
            <a:ext cx="1188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0000"/>
                </a:solidFill>
                <a:latin typeface="Calibri"/>
              </a:rPr>
              <a:t>Silrec Admin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10"/>
          <p:cNvSpPr/>
          <p:nvPr/>
        </p:nvSpPr>
        <p:spPr>
          <a:xfrm>
            <a:off x="457200" y="914400"/>
            <a:ext cx="2377080" cy="502884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ounded Rectangle 11"/>
          <p:cNvSpPr/>
          <p:nvPr/>
        </p:nvSpPr>
        <p:spPr>
          <a:xfrm>
            <a:off x="457200" y="914400"/>
            <a:ext cx="2377080" cy="731160"/>
          </a:xfrm>
          <a:prstGeom prst="roundRect">
            <a:avLst>
              <a:gd name="adj" fmla="val 16667"/>
            </a:avLst>
          </a:prstGeom>
          <a:solidFill>
            <a:srgbClr val="95a5a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Draft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548640" y="1783080"/>
            <a:ext cx="2194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7f8c8d"/>
                </a:solidFill>
                <a:latin typeface="Calibri"/>
              </a:rPr>
              <a:t>Roles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3"/>
          <p:cNvSpPr/>
          <p:nvPr/>
        </p:nvSpPr>
        <p:spPr>
          <a:xfrm>
            <a:off x="548640" y="4892040"/>
            <a:ext cx="2194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7f8c8d"/>
                </a:solidFill>
                <a:latin typeface="Calibri"/>
              </a:rPr>
              <a:t>Actions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14"/>
          <p:cNvSpPr/>
          <p:nvPr/>
        </p:nvSpPr>
        <p:spPr>
          <a:xfrm>
            <a:off x="594360" y="516636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Operator can upload &amp; process shapefile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15"/>
          <p:cNvSpPr/>
          <p:nvPr/>
        </p:nvSpPr>
        <p:spPr>
          <a:xfrm>
            <a:off x="3154680" y="914400"/>
            <a:ext cx="2377080" cy="502884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Rounded Rectangle 16"/>
          <p:cNvSpPr/>
          <p:nvPr/>
        </p:nvSpPr>
        <p:spPr>
          <a:xfrm>
            <a:off x="3154680" y="914400"/>
            <a:ext cx="2377080" cy="731160"/>
          </a:xfrm>
          <a:prstGeom prst="roundRect">
            <a:avLst>
              <a:gd name="adj" fmla="val 16667"/>
            </a:avLst>
          </a:prstGeom>
          <a:solidFill>
            <a:srgbClr val="5dad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Processing Shapefile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3246120" y="1783080"/>
            <a:ext cx="2194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7f8c8d"/>
                </a:solidFill>
                <a:latin typeface="Calibri"/>
              </a:rPr>
              <a:t>Roles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3246120" y="4892040"/>
            <a:ext cx="2194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7f8c8d"/>
                </a:solidFill>
                <a:latin typeface="Calibri"/>
              </a:rPr>
              <a:t>Actions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ounded Rectangle 19"/>
          <p:cNvSpPr/>
          <p:nvPr/>
        </p:nvSpPr>
        <p:spPr>
          <a:xfrm>
            <a:off x="3291840" y="516636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System processes shapefile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ounded Rectangle 20"/>
          <p:cNvSpPr/>
          <p:nvPr/>
        </p:nvSpPr>
        <p:spPr>
          <a:xfrm>
            <a:off x="3291840" y="566928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Operator / Silrec Admin can send to With Operator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21"/>
          <p:cNvSpPr/>
          <p:nvPr/>
        </p:nvSpPr>
        <p:spPr>
          <a:xfrm>
            <a:off x="5852160" y="914400"/>
            <a:ext cx="2377080" cy="502884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Rounded Rectangle 22"/>
          <p:cNvSpPr/>
          <p:nvPr/>
        </p:nvSpPr>
        <p:spPr>
          <a:xfrm>
            <a:off x="5852160" y="914400"/>
            <a:ext cx="2377080" cy="73116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With Operator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23"/>
          <p:cNvSpPr/>
          <p:nvPr/>
        </p:nvSpPr>
        <p:spPr>
          <a:xfrm>
            <a:off x="5943600" y="1783080"/>
            <a:ext cx="2194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7f8c8d"/>
                </a:solidFill>
                <a:latin typeface="Calibri"/>
              </a:rPr>
              <a:t>Roles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24"/>
          <p:cNvSpPr/>
          <p:nvPr/>
        </p:nvSpPr>
        <p:spPr>
          <a:xfrm>
            <a:off x="5943600" y="4892040"/>
            <a:ext cx="2194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7f8c8d"/>
                </a:solidFill>
                <a:latin typeface="Calibri"/>
              </a:rPr>
              <a:t>Actions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25"/>
          <p:cNvSpPr/>
          <p:nvPr/>
        </p:nvSpPr>
        <p:spPr>
          <a:xfrm>
            <a:off x="5989320" y="516636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Operator completes data entry (cohorts, treatments)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26"/>
          <p:cNvSpPr/>
          <p:nvPr/>
        </p:nvSpPr>
        <p:spPr>
          <a:xfrm>
            <a:off x="5989320" y="566928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Operator can send to With Reviewer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27"/>
          <p:cNvSpPr/>
          <p:nvPr/>
        </p:nvSpPr>
        <p:spPr>
          <a:xfrm>
            <a:off x="5989320" y="617220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Operator can return to Draft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28"/>
          <p:cNvSpPr/>
          <p:nvPr/>
        </p:nvSpPr>
        <p:spPr>
          <a:xfrm>
            <a:off x="8549640" y="914400"/>
            <a:ext cx="2377080" cy="502884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ounded Rectangle 29"/>
          <p:cNvSpPr/>
          <p:nvPr/>
        </p:nvSpPr>
        <p:spPr>
          <a:xfrm>
            <a:off x="8549640" y="914400"/>
            <a:ext cx="2377080" cy="73116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With Reviewer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30"/>
          <p:cNvSpPr/>
          <p:nvPr/>
        </p:nvSpPr>
        <p:spPr>
          <a:xfrm>
            <a:off x="8641080" y="1783080"/>
            <a:ext cx="2194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7f8c8d"/>
                </a:solidFill>
                <a:latin typeface="Calibri"/>
              </a:rPr>
              <a:t>Roles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1"/>
          <p:cNvSpPr/>
          <p:nvPr/>
        </p:nvSpPr>
        <p:spPr>
          <a:xfrm>
            <a:off x="8641080" y="4892040"/>
            <a:ext cx="2194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7f8c8d"/>
                </a:solidFill>
                <a:latin typeface="Calibri"/>
              </a:rPr>
              <a:t>Actions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ounded Rectangle 32"/>
          <p:cNvSpPr/>
          <p:nvPr/>
        </p:nvSpPr>
        <p:spPr>
          <a:xfrm>
            <a:off x="8686800" y="516636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Reviewer reviews and approves/rejects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33"/>
          <p:cNvSpPr/>
          <p:nvPr/>
        </p:nvSpPr>
        <p:spPr>
          <a:xfrm>
            <a:off x="8686800" y="566928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Reviewer can send back to With Operator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ounded Rectangle 34"/>
          <p:cNvSpPr/>
          <p:nvPr/>
        </p:nvSpPr>
        <p:spPr>
          <a:xfrm>
            <a:off x="8686800" y="617220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Reviewer can move to Review Completed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35"/>
          <p:cNvSpPr/>
          <p:nvPr/>
        </p:nvSpPr>
        <p:spPr>
          <a:xfrm>
            <a:off x="11247120" y="914400"/>
            <a:ext cx="2377080" cy="502884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Rounded Rectangle 36"/>
          <p:cNvSpPr/>
          <p:nvPr/>
        </p:nvSpPr>
        <p:spPr>
          <a:xfrm>
            <a:off x="11247120" y="914400"/>
            <a:ext cx="2377080" cy="731160"/>
          </a:xfrm>
          <a:prstGeom prst="roundRect">
            <a:avLst>
              <a:gd name="adj" fmla="val 16667"/>
            </a:avLst>
          </a:prstGeom>
          <a:solidFill>
            <a:srgbClr val="8e44a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Review Completed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Box 37"/>
          <p:cNvSpPr/>
          <p:nvPr/>
        </p:nvSpPr>
        <p:spPr>
          <a:xfrm>
            <a:off x="11338560" y="1783080"/>
            <a:ext cx="2194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7f8c8d"/>
                </a:solidFill>
                <a:latin typeface="Calibri"/>
              </a:rPr>
              <a:t>Roles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38"/>
          <p:cNvSpPr/>
          <p:nvPr/>
        </p:nvSpPr>
        <p:spPr>
          <a:xfrm>
            <a:off x="11338560" y="4892040"/>
            <a:ext cx="2194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7f8c8d"/>
                </a:solidFill>
                <a:latin typeface="Calibri"/>
              </a:rPr>
              <a:t>Actions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ounded Rectangle 39"/>
          <p:cNvSpPr/>
          <p:nvPr/>
        </p:nvSpPr>
        <p:spPr>
          <a:xfrm>
            <a:off x="11384280" y="516636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Final status - proposal closed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ounded Rectangle 40"/>
          <p:cNvSpPr/>
          <p:nvPr/>
        </p:nvSpPr>
        <p:spPr>
          <a:xfrm>
            <a:off x="11384280" y="5669280"/>
            <a:ext cx="2102760" cy="41112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000000"/>
                </a:solidFill>
                <a:latin typeface="Calibri"/>
              </a:rPr>
              <a:t>Only Silrec Admin can reopen to With Reviewer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0" name="Connector 41"/>
          <p:cNvCxnSpPr/>
          <p:nvPr/>
        </p:nvCxnSpPr>
        <p:spPr>
          <a:xfrm>
            <a:off x="0" y="0"/>
            <a:ext cx="360" cy="360"/>
          </a:xfrm>
          <a:prstGeom prst="straightConnector1">
            <a:avLst/>
          </a:prstGeom>
          <a:ln w="31750">
            <a:solidFill>
              <a:srgbClr val="5dadec"/>
            </a:solidFill>
            <a:round/>
          </a:ln>
        </p:spPr>
      </p:cxnSp>
      <p:sp>
        <p:nvSpPr>
          <p:cNvPr id="111" name="Isosceles Triangle 42"/>
          <p:cNvSpPr/>
          <p:nvPr/>
        </p:nvSpPr>
        <p:spPr>
          <a:xfrm>
            <a:off x="0" y="0"/>
            <a:ext cx="182520" cy="182520"/>
          </a:xfrm>
          <a:prstGeom prst="triangle">
            <a:avLst>
              <a:gd name="adj" fmla="val 50000"/>
            </a:avLst>
          </a:prstGeom>
          <a:solidFill>
            <a:srgbClr val="5dad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43"/>
          <p:cNvSpPr/>
          <p:nvPr/>
        </p:nvSpPr>
        <p:spPr>
          <a:xfrm>
            <a:off x="2171880" y="2743200"/>
            <a:ext cx="1645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Upload &amp; process</a:t>
            </a:r>
            <a:br>
              <a:rPr sz="900"/>
            </a:b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shapefile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44"/>
          <p:cNvSpPr/>
          <p:nvPr/>
        </p:nvSpPr>
        <p:spPr>
          <a:xfrm>
            <a:off x="2354760" y="3200400"/>
            <a:ext cx="1279800" cy="22824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5dadec"/>
                </a:solidFill>
                <a:latin typeface="Calibri"/>
              </a:rPr>
              <a:t>Operator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4" name="Connector 45"/>
          <p:cNvCxnSpPr/>
          <p:nvPr/>
        </p:nvCxnSpPr>
        <p:spPr>
          <a:xfrm>
            <a:off x="0" y="0"/>
            <a:ext cx="360" cy="360"/>
          </a:xfrm>
          <a:prstGeom prst="straightConnector1">
            <a:avLst/>
          </a:prstGeom>
          <a:ln w="31750">
            <a:solidFill>
              <a:srgbClr val="5dadec"/>
            </a:solidFill>
            <a:round/>
          </a:ln>
        </p:spPr>
      </p:cxnSp>
      <p:sp>
        <p:nvSpPr>
          <p:cNvPr id="115" name="Isosceles Triangle 46"/>
          <p:cNvSpPr/>
          <p:nvPr/>
        </p:nvSpPr>
        <p:spPr>
          <a:xfrm>
            <a:off x="0" y="0"/>
            <a:ext cx="182520" cy="182520"/>
          </a:xfrm>
          <a:prstGeom prst="triangle">
            <a:avLst>
              <a:gd name="adj" fmla="val 50000"/>
            </a:avLst>
          </a:prstGeom>
          <a:solidFill>
            <a:srgbClr val="5dad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47"/>
          <p:cNvSpPr/>
          <p:nvPr/>
        </p:nvSpPr>
        <p:spPr>
          <a:xfrm>
            <a:off x="4869360" y="2743200"/>
            <a:ext cx="1645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Processing complete</a:t>
            </a:r>
            <a:br>
              <a:rPr sz="900"/>
            </a:b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→ With Operator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48"/>
          <p:cNvSpPr/>
          <p:nvPr/>
        </p:nvSpPr>
        <p:spPr>
          <a:xfrm>
            <a:off x="5052240" y="3200400"/>
            <a:ext cx="1279800" cy="22824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5dadec"/>
                </a:solidFill>
                <a:latin typeface="Calibri"/>
              </a:rPr>
              <a:t>Operator, Silrec Admin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8" name="Connector 49"/>
          <p:cNvCxnSpPr/>
          <p:nvPr/>
        </p:nvCxnSpPr>
        <p:spPr>
          <a:xfrm>
            <a:off x="0" y="0"/>
            <a:ext cx="360" cy="360"/>
          </a:xfrm>
          <a:prstGeom prst="straightConnector1">
            <a:avLst/>
          </a:prstGeom>
          <a:ln w="31750">
            <a:solidFill>
              <a:srgbClr val="5dadec"/>
            </a:solidFill>
            <a:round/>
          </a:ln>
        </p:spPr>
      </p:cxnSp>
      <p:sp>
        <p:nvSpPr>
          <p:cNvPr id="119" name="Isosceles Triangle 50"/>
          <p:cNvSpPr/>
          <p:nvPr/>
        </p:nvSpPr>
        <p:spPr>
          <a:xfrm>
            <a:off x="0" y="0"/>
            <a:ext cx="182520" cy="182520"/>
          </a:xfrm>
          <a:prstGeom prst="triangle">
            <a:avLst>
              <a:gd name="adj" fmla="val 50000"/>
            </a:avLst>
          </a:prstGeom>
          <a:solidFill>
            <a:srgbClr val="5dad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51"/>
          <p:cNvSpPr/>
          <p:nvPr/>
        </p:nvSpPr>
        <p:spPr>
          <a:xfrm>
            <a:off x="7566840" y="2743200"/>
            <a:ext cx="1645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Send to</a:t>
            </a:r>
            <a:br>
              <a:rPr sz="900"/>
            </a:b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Reviewer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52"/>
          <p:cNvSpPr/>
          <p:nvPr/>
        </p:nvSpPr>
        <p:spPr>
          <a:xfrm>
            <a:off x="7749720" y="3107880"/>
            <a:ext cx="1279800" cy="32076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5dadec"/>
                </a:solidFill>
                <a:latin typeface="Calibri"/>
              </a:rPr>
              <a:t>Operator, Silrec Admin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2" name="Connector 53"/>
          <p:cNvCxnSpPr/>
          <p:nvPr/>
        </p:nvCxnSpPr>
        <p:spPr>
          <a:xfrm>
            <a:off x="0" y="0"/>
            <a:ext cx="360" cy="360"/>
          </a:xfrm>
          <a:prstGeom prst="straightConnector1">
            <a:avLst/>
          </a:prstGeom>
          <a:ln w="31750">
            <a:solidFill>
              <a:srgbClr val="5dadec"/>
            </a:solidFill>
            <a:round/>
          </a:ln>
        </p:spPr>
      </p:cxnSp>
      <p:sp>
        <p:nvSpPr>
          <p:cNvPr id="123" name="Isosceles Triangle 54"/>
          <p:cNvSpPr/>
          <p:nvPr/>
        </p:nvSpPr>
        <p:spPr>
          <a:xfrm rot="10800000">
            <a:off x="360" y="0"/>
            <a:ext cx="182520" cy="182520"/>
          </a:xfrm>
          <a:prstGeom prst="triangle">
            <a:avLst>
              <a:gd name="adj" fmla="val 50000"/>
            </a:avLst>
          </a:prstGeom>
          <a:solidFill>
            <a:srgbClr val="5dad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55"/>
          <p:cNvSpPr/>
          <p:nvPr/>
        </p:nvSpPr>
        <p:spPr>
          <a:xfrm>
            <a:off x="3520440" y="2743200"/>
            <a:ext cx="1645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Return to</a:t>
            </a:r>
            <a:br>
              <a:rPr sz="900"/>
            </a:b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Draft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56"/>
          <p:cNvSpPr/>
          <p:nvPr/>
        </p:nvSpPr>
        <p:spPr>
          <a:xfrm>
            <a:off x="3703320" y="3200400"/>
            <a:ext cx="1279800" cy="22824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5dadec"/>
                </a:solidFill>
                <a:latin typeface="Calibri"/>
              </a:rPr>
              <a:t>Operator, Silrec Admin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6" name="Connector 57"/>
          <p:cNvCxnSpPr/>
          <p:nvPr/>
        </p:nvCxnSpPr>
        <p:spPr>
          <a:xfrm>
            <a:off x="0" y="0"/>
            <a:ext cx="360" cy="360"/>
          </a:xfrm>
          <a:prstGeom prst="straightConnector1">
            <a:avLst/>
          </a:prstGeom>
          <a:ln w="31750">
            <a:solidFill>
              <a:srgbClr val="5dadec"/>
            </a:solidFill>
            <a:round/>
          </a:ln>
        </p:spPr>
      </p:cxnSp>
      <p:sp>
        <p:nvSpPr>
          <p:cNvPr id="127" name="Isosceles Triangle 58"/>
          <p:cNvSpPr/>
          <p:nvPr/>
        </p:nvSpPr>
        <p:spPr>
          <a:xfrm>
            <a:off x="0" y="0"/>
            <a:ext cx="182520" cy="182520"/>
          </a:xfrm>
          <a:prstGeom prst="triangle">
            <a:avLst>
              <a:gd name="adj" fmla="val 50000"/>
            </a:avLst>
          </a:prstGeom>
          <a:solidFill>
            <a:srgbClr val="5dad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59"/>
          <p:cNvSpPr/>
          <p:nvPr/>
        </p:nvSpPr>
        <p:spPr>
          <a:xfrm>
            <a:off x="10264320" y="2743200"/>
            <a:ext cx="1645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Approve</a:t>
            </a:r>
            <a:br>
              <a:rPr sz="900"/>
            </a:b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→ Review Completed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ounded Rectangle 60"/>
          <p:cNvSpPr/>
          <p:nvPr/>
        </p:nvSpPr>
        <p:spPr>
          <a:xfrm>
            <a:off x="10447200" y="3429000"/>
            <a:ext cx="1279800" cy="45720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5dadec"/>
                </a:solidFill>
                <a:latin typeface="Calibri"/>
              </a:rPr>
              <a:t>Reviewer,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5dadec"/>
                </a:solidFill>
                <a:latin typeface="Calibri"/>
              </a:rPr>
              <a:t>Silrec Admin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0" name="Connector 61"/>
          <p:cNvCxnSpPr/>
          <p:nvPr/>
        </p:nvCxnSpPr>
        <p:spPr>
          <a:xfrm>
            <a:off x="0" y="0"/>
            <a:ext cx="360" cy="360"/>
          </a:xfrm>
          <a:prstGeom prst="straightConnector1">
            <a:avLst/>
          </a:prstGeom>
          <a:ln w="31750">
            <a:solidFill>
              <a:srgbClr val="5dadec"/>
            </a:solidFill>
            <a:round/>
          </a:ln>
        </p:spPr>
      </p:cxnSp>
      <p:sp>
        <p:nvSpPr>
          <p:cNvPr id="131" name="Isosceles Triangle 62"/>
          <p:cNvSpPr/>
          <p:nvPr/>
        </p:nvSpPr>
        <p:spPr>
          <a:xfrm rot="10800000">
            <a:off x="360" y="0"/>
            <a:ext cx="182520" cy="182520"/>
          </a:xfrm>
          <a:prstGeom prst="triangle">
            <a:avLst>
              <a:gd name="adj" fmla="val 50000"/>
            </a:avLst>
          </a:prstGeom>
          <a:solidFill>
            <a:srgbClr val="5dad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63"/>
          <p:cNvSpPr/>
          <p:nvPr/>
        </p:nvSpPr>
        <p:spPr>
          <a:xfrm>
            <a:off x="7566840" y="2286000"/>
            <a:ext cx="1577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Send back</a:t>
            </a:r>
            <a:br>
              <a:rPr sz="900"/>
            </a:b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to Operator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64"/>
          <p:cNvSpPr/>
          <p:nvPr/>
        </p:nvSpPr>
        <p:spPr>
          <a:xfrm>
            <a:off x="7749720" y="3657600"/>
            <a:ext cx="1279800" cy="457200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5dadec"/>
                </a:solidFill>
                <a:latin typeface="Calibri"/>
              </a:rPr>
              <a:t>Reviewer, Silrec Admin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4" name="Connector 65"/>
          <p:cNvCxnSpPr/>
          <p:nvPr/>
        </p:nvCxnSpPr>
        <p:spPr>
          <a:xfrm>
            <a:off x="0" y="0"/>
            <a:ext cx="360" cy="360"/>
          </a:xfrm>
          <a:prstGeom prst="straightConnector1">
            <a:avLst/>
          </a:prstGeom>
          <a:ln w="31750">
            <a:solidFill>
              <a:srgbClr val="5dadec"/>
            </a:solidFill>
            <a:round/>
          </a:ln>
        </p:spPr>
      </p:cxnSp>
      <p:sp>
        <p:nvSpPr>
          <p:cNvPr id="135" name="Isosceles Triangle 66"/>
          <p:cNvSpPr/>
          <p:nvPr/>
        </p:nvSpPr>
        <p:spPr>
          <a:xfrm rot="10800000">
            <a:off x="360" y="0"/>
            <a:ext cx="182520" cy="182520"/>
          </a:xfrm>
          <a:prstGeom prst="triangle">
            <a:avLst>
              <a:gd name="adj" fmla="val 50000"/>
            </a:avLst>
          </a:prstGeom>
          <a:solidFill>
            <a:srgbClr val="5dad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67"/>
          <p:cNvSpPr/>
          <p:nvPr/>
        </p:nvSpPr>
        <p:spPr>
          <a:xfrm>
            <a:off x="10264320" y="2286000"/>
            <a:ext cx="16455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00" spc="-1" strike="noStrike">
                <a:solidFill>
                  <a:srgbClr val="2c3e50"/>
                </a:solidFill>
                <a:latin typeface="Calibri"/>
              </a:rPr>
              <a:t>Reopen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ounded Rectangle 68"/>
          <p:cNvSpPr/>
          <p:nvPr/>
        </p:nvSpPr>
        <p:spPr>
          <a:xfrm>
            <a:off x="10447200" y="3107880"/>
            <a:ext cx="1279800" cy="22824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5dadec"/>
                </a:solidFill>
                <a:latin typeface="Calibri"/>
              </a:rPr>
              <a:t>Silrec Admin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457200" y="274320"/>
            <a:ext cx="1371564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SILREC Role Definitions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2"/>
          <p:cNvSpPr/>
          <p:nvPr/>
        </p:nvSpPr>
        <p:spPr>
          <a:xfrm>
            <a:off x="457200" y="1371600"/>
            <a:ext cx="1462680" cy="456840"/>
          </a:xfrm>
          <a:prstGeom prst="roundRect">
            <a:avLst>
              <a:gd name="adj" fmla="val 16667"/>
            </a:avLst>
          </a:prstGeom>
          <a:solidFill>
            <a:srgbClr val="bdc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User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2103120" y="1371600"/>
            <a:ext cx="11886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View-only access. Can see proposals but cannot change status.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ounded Rectangle 4"/>
          <p:cNvSpPr/>
          <p:nvPr/>
        </p:nvSpPr>
        <p:spPr>
          <a:xfrm>
            <a:off x="457200" y="2286000"/>
            <a:ext cx="1462680" cy="45684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Operator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2103120" y="2286000"/>
            <a:ext cx="11886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Can upload shapefiles, enter data, send to reviewer. Core data entry role.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ounded Rectangle 6"/>
          <p:cNvSpPr/>
          <p:nvPr/>
        </p:nvSpPr>
        <p:spPr>
          <a:xfrm>
            <a:off x="457200" y="3200400"/>
            <a:ext cx="1462680" cy="4568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Reviewer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2103120" y="3200400"/>
            <a:ext cx="11886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Can review, approve, or return proposals to operator.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8"/>
          <p:cNvSpPr/>
          <p:nvPr/>
        </p:nvSpPr>
        <p:spPr>
          <a:xfrm>
            <a:off x="457200" y="4114800"/>
            <a:ext cx="1462680" cy="45684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Silrec Admin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2103120" y="4114800"/>
            <a:ext cx="118868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Full access. Can act as any role and override status transitions.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ounded Rectangle 10"/>
          <p:cNvSpPr/>
          <p:nvPr/>
        </p:nvSpPr>
        <p:spPr>
          <a:xfrm>
            <a:off x="457200" y="5303520"/>
            <a:ext cx="13715640" cy="731160"/>
          </a:xfrm>
          <a:prstGeom prst="roundRect">
            <a:avLst>
              <a:gd name="adj" fmla="val 16667"/>
            </a:avLst>
          </a:prstGeom>
          <a:solidFill>
            <a:srgbClr val="fff3c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Calibri"/>
              </a:rPr>
              <a:t>Note: A user can belong to multiple groups. E.g. an Operator who also reviews can be assigned both Operator and Reviewer.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457200" y="274320"/>
            <a:ext cx="1371564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000000"/>
                </a:solidFill>
                <a:latin typeface="Calibri"/>
              </a:rPr>
              <a:t>Status Transition Matrix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9" name="Table 2"/>
          <p:cNvGraphicFramePr/>
          <p:nvPr/>
        </p:nvGraphicFramePr>
        <p:xfrm>
          <a:off x="914400" y="1371600"/>
          <a:ext cx="12801240" cy="32000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743200"/>
                <a:gridCol w="2743200"/>
                <a:gridCol w="2743200"/>
              </a:tblGrid>
              <a:tr h="5331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From / To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With Operator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With Reviewer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Review Completed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Draft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c3e50"/>
                    </a:solidFill>
                  </a:tcPr>
                </a:tc>
              </a:tr>
              <a:tr h="5331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Draft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Operator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(upload &amp; process)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</a:tr>
              <a:tr h="5331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Processing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Shapefile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Operator, Silrec Admin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(processing complete)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1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With Operator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Operator, Silrec Admin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(send to reviewer)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Operator, Silrec Admin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(return to draft)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</a:tr>
              <a:tr h="5331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With Reviewer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Reviewer, Silrec Admin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(send back)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Reviewer, Silrec Admin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(approve)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1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Review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2c3e50"/>
                          </a:solidFill>
                          <a:latin typeface="Calibri"/>
                        </a:rPr>
                        <a:t>Completed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Silrec Admin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(reopen)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2026-06-09T09:56:53Z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